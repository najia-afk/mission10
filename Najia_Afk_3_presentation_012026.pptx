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1675"/>
  <p:notesSz cx="6858000" cy="9144000"/>
  <p:embeddedFontLst>
    <p:embeddedFont>
      <p:font typeface="Arial Black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iw/1XJMcHw5Xs5ys4HGrZeat+F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3CB497-B25A-4CA4-9DC9-59AC20B0F9DB}">
  <a:tblStyle styleId="{603CB497-B25A-4CA4-9DC9-59AC20B0F9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8E67B51-DCD8-4780-A1F3-9911E1082BC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4da3a0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b84da3a04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84da3a04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b84da3a045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eaf6ce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b7eaf6ce8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7eaf6ce8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b7eaf6ce85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7eaf6ce8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b7eaf6ce85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7eaf6ce8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b7eaf6ce85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7eaf6ce8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b7eaf6ce85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7eaf6ce8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b7eaf6ce85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7eaf6ce85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b7eaf6ce85_1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7eaf6ce85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b7eaf6ce85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7eaf6ce85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b7eaf6ce85_1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7eaf6ce85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b7eaf6ce85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7eaf6ce8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b7eaf6ce85_1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7eaf6ce85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b7eaf6ce85_1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7eaf6ce85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3b7eaf6ce85_1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7eaf6ce85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b7eaf6ce85_1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7f30bbf2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b7f30bbf2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7f30bbf2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g3b7f30bbf2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295725"/>
            <a:ext cx="4696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FASHION</a:t>
            </a:r>
            <a:endParaRPr b="1" i="0" sz="6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INSTA</a:t>
            </a:r>
            <a:r>
              <a:rPr b="1" i="0" lang="en-US" sz="80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7200" y="41148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Votre styliste IA personnel.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0" y="5355825"/>
            <a:ext cx="347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Adrien NORMAND</a:t>
            </a:r>
            <a:endParaRPr sz="2400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Présentation mission 10</a:t>
            </a:r>
            <a:endParaRPr sz="2400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16/01/2026</a:t>
            </a:r>
            <a:endParaRPr sz="2400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84da3a045_0_0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b84da3a045_0_0"/>
          <p:cNvSpPr txBox="1"/>
          <p:nvPr/>
        </p:nvSpPr>
        <p:spPr>
          <a:xfrm>
            <a:off x="369650" y="205450"/>
            <a:ext cx="11589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 &amp; Résumé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b84da3a045_0_0"/>
          <p:cNvSpPr txBox="1"/>
          <p:nvPr/>
        </p:nvSpPr>
        <p:spPr>
          <a:xfrm>
            <a:off x="661134" y="1191058"/>
            <a:ext cx="116538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Objectif: recommandations d’articles via photo (app mobile)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MVP: capture photo + recommandations IA + parcours d’achat + RGPD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Budget initial : 128894,80 € (dev 128 135,50 € + cloud init 759,30 €)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Coûts récurrents + support : 26324,36 €/an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OPEX/an (hors support) : 20324,36€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 applicative : 19 200 €/an (15% du dev)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prod (hors maintenance) : 1124,36 €/an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: 6 000 €/an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Rentabilité : break-even entre Année 1 et Année 2 (~14 mois) (arrondi)</a:t>
            </a:r>
            <a:endParaRPr i="1" sz="1000">
              <a:solidFill>
                <a:srgbClr val="CCCCCC"/>
              </a:solidFill>
              <a:highlight>
                <a:srgbClr val="181818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Risques clés: RGPD, biais, sécurité, performance, adoption + plans de mitigation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Planning: sprints SCRUM, reviews régulières, pilotage par KPIs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b84da3a045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84da3a045_0_13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b84da3a045_0_13"/>
          <p:cNvSpPr txBox="1"/>
          <p:nvPr/>
        </p:nvSpPr>
        <p:spPr>
          <a:xfrm>
            <a:off x="369650" y="205450"/>
            <a:ext cx="11589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Sommaire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b84da3a045_0_13"/>
          <p:cNvSpPr txBox="1"/>
          <p:nvPr/>
        </p:nvSpPr>
        <p:spPr>
          <a:xfrm>
            <a:off x="661134" y="1191058"/>
            <a:ext cx="116538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Objectif: recommandations d’articles via photo (app mobile)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MVP: capture photo + recommandations IA + parcours d’achat + RGPD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Ressources &amp; budget: dev + cloud (CAPEX one-shot / OPEX récurrent)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Rentabilité: break-even attendu (cf. trajectoire ROI)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Risques clés: RGPD, biais, sécurité, performance, adoption + plans de mitigation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Planning: sprints SCRUM, reviews régulières, pilotage par KPIs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b84da3a045_0_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LE PARADOXE DU DRESSING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57200" y="10058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Qu’est ce qui ne va pas dans l’e-mode d’aujourd’hui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457200" y="1828800"/>
            <a:ext cx="3474720" cy="3657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40080" y="2011680"/>
            <a:ext cx="31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Paralysis du choix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40080" y="2560320"/>
            <a:ext cx="31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Les utilisateurs passent 90min/semaine à décider quoi porter, mais ne porte que 20% de leur garde-robe.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297680" y="1828800"/>
            <a:ext cx="3474720" cy="3657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480560" y="2011680"/>
            <a:ext cx="31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Le cauchemar des retours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480560" y="2560320"/>
            <a:ext cx="31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30% des achats en ligne sont retournés. Le mauvais ajustement et le décalage de style  coûtent des milliards au secteur.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8138160" y="1828800"/>
            <a:ext cx="3474720" cy="3657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8321040" y="2011680"/>
            <a:ext cx="310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Expérience générique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321040" y="2560320"/>
            <a:ext cx="31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Les recommandations e-commerce sont basées sur “les autres ont acheté”, pas sur “ce qui conviendrait”.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VOTRE STYLISTE IA PERSONNEL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57200" y="10058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Du prêt à porter hyper-personnalisé à portée de main.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ckup.png" id="131" name="Google Shape;1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1150" y="1400775"/>
            <a:ext cx="5029199" cy="502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258756" y="2286000"/>
            <a:ext cx="3200400" cy="1371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441636" y="2468880"/>
            <a:ext cx="28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Essayage Virtuel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441636" y="3017520"/>
            <a:ext cx="28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Essayez sur VOUS avant d'acheter. Propulsé par l’IA générative.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8756" y="4114800"/>
            <a:ext cx="3200400" cy="1371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41636" y="4297680"/>
            <a:ext cx="28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Garde-robe Intelligente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41636" y="4846320"/>
            <a:ext cx="28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Numérisez votre dressing. Mixez instantanément.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8638162" y="2286000"/>
            <a:ext cx="3200400" cy="1371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8821042" y="2468880"/>
            <a:ext cx="28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ADN du Style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8821042" y="3017520"/>
            <a:ext cx="28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L’IA apprend vos goûts, morphologie et style.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638162" y="4114800"/>
            <a:ext cx="3200400" cy="1371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821042" y="4297680"/>
            <a:ext cx="28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Eco-Score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8821042" y="4846320"/>
            <a:ext cx="28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Choix durables avec impact en temps réel.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57200" y="457200"/>
            <a:ext cx="1139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UNE OPPORTUNITÉ DE MARCHÉ 1,5M </a:t>
            </a:r>
            <a:r>
              <a:rPr b="1" lang="en-US" sz="3600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€</a:t>
            </a:r>
            <a:endParaRPr b="1" sz="3600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57200" y="10058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Surfons sur la vague de la nouvelle tech.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873525" y="2401500"/>
            <a:ext cx="31596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0"/>
              <a:buFont typeface="Arial"/>
              <a:buNone/>
            </a:pPr>
            <a:r>
              <a:rPr b="1" i="0" lang="en-US" sz="87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1.5M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Marché mondial de la mode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612851" y="2401497"/>
            <a:ext cx="2743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0"/>
              <a:buFont typeface="Arial"/>
              <a:buNone/>
            </a:pPr>
            <a:r>
              <a:rPr b="1" i="0" lang="en-US" sz="87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8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TCAC de l’IA dans la 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990300" y="2319775"/>
            <a:ext cx="3426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0"/>
              <a:buFont typeface="Arial"/>
              <a:buNone/>
            </a:pPr>
            <a:r>
              <a:rPr b="1" i="0" lang="en-US" sz="8700" u="none" cap="none" strike="noStrike">
                <a:solidFill>
                  <a:srgbClr val="8A2BE2"/>
                </a:solidFill>
                <a:latin typeface="Calibri"/>
                <a:ea typeface="Calibri"/>
                <a:cs typeface="Calibri"/>
                <a:sym typeface="Calibri"/>
              </a:rPr>
              <a:t>Gen-Z</a:t>
            </a:r>
            <a:endParaRPr b="0" i="0" sz="8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Native 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FEUILLE DE ROUTE PRODUIT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457200" y="10058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82832"/>
                </a:solidFill>
              </a:rPr>
              <a:t>Roadmap et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57200" y="2286000"/>
            <a:ext cx="3657600" cy="3821400"/>
          </a:xfrm>
          <a:prstGeom prst="rect">
            <a:avLst/>
          </a:prstGeom>
          <a:solidFill>
            <a:srgbClr val="8A2BE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MUST HAVE (MVP)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AI Reco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Photo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GDPR Compliance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Authentification sécurisée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Capture photo tenue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Recommandation IA (moteur style)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Fiche produit (prix/tailles/couleurs)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Ajout panier / achat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RGPD &amp; consentement</a:t>
            </a:r>
            <a:endParaRPr b="0" i="0" sz="1000" u="none" cap="none" strike="noStrike">
              <a:solidFill>
                <a:srgbClr val="CCCCCC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297675" y="2286000"/>
            <a:ext cx="3657600" cy="3821400"/>
          </a:xfrm>
          <a:prstGeom prst="rect">
            <a:avLst/>
          </a:prstGeom>
          <a:solidFill>
            <a:srgbClr val="FF1493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SHOULD HAVE (V1)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Historique des tenues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Filtres de recommandations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Dashboard KPI (admin)</a:t>
            </a:r>
            <a:endParaRPr b="0" i="0" sz="1000" u="none" cap="none" strike="noStrike">
              <a:solidFill>
                <a:srgbClr val="CCCCCC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138150" y="2286000"/>
            <a:ext cx="3657600" cy="3821400"/>
          </a:xfrm>
          <a:prstGeom prst="rect">
            <a:avLst/>
          </a:prstGeom>
          <a:solidFill>
            <a:srgbClr val="00C8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COULD HAVE (Scale)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Notifications nouveautés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Partage social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Essayage virtuel (2D overlay)</a:t>
            </a:r>
            <a:endParaRPr b="0" i="0" sz="1000" u="none" cap="none" strike="noStrike">
              <a:solidFill>
                <a:srgbClr val="CCCCCC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7eaf6ce85_1_0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b7eaf6ce85_1_0"/>
          <p:cNvSpPr txBox="1"/>
          <p:nvPr/>
        </p:nvSpPr>
        <p:spPr>
          <a:xfrm>
            <a:off x="428000" y="445525"/>
            <a:ext cx="1158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BACKLOG - User Stories MVP (Must Have)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7eaf6ce85_1_0"/>
          <p:cNvSpPr txBox="1"/>
          <p:nvPr/>
        </p:nvSpPr>
        <p:spPr>
          <a:xfrm>
            <a:off x="457200" y="10058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Priorisé pour un impact maximal (MoSCoW).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" name="Google Shape;174;g3b7eaf6ce85_1_0"/>
          <p:cNvGraphicFramePr/>
          <p:nvPr/>
        </p:nvGraphicFramePr>
        <p:xfrm>
          <a:off x="1105015" y="167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223200"/>
                <a:gridCol w="2413850"/>
                <a:gridCol w="1567550"/>
                <a:gridCol w="1567550"/>
                <a:gridCol w="1567550"/>
                <a:gridCol w="1567550"/>
              </a:tblGrid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User Story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MoSCoW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SP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Charge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Sprint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Connexion email/OAuth Google/Apple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Must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Capture/import photo de tenue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Must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8j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Recommandations IA vêtements similaires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Must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25j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Garde-robe numérique (historique)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Must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12j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Achat in-app (panier + paiement)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Must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18j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US10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Gestion données personnelles RGPD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Must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12j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g3b7eaf6ce85_1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eaf6ce85_1_21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7eaf6ce85_1_21"/>
          <p:cNvSpPr txBox="1"/>
          <p:nvPr/>
        </p:nvSpPr>
        <p:spPr>
          <a:xfrm>
            <a:off x="369650" y="205450"/>
            <a:ext cx="1158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US03: </a:t>
            </a:r>
            <a:r>
              <a:rPr b="1" i="0" lang="en-US" sz="2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RECOMMANDATIONS IA - CRITÈRES D'ACCEPTATION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b7eaf6ce85_1_21"/>
          <p:cNvSpPr txBox="1"/>
          <p:nvPr/>
        </p:nvSpPr>
        <p:spPr>
          <a:xfrm>
            <a:off x="698525" y="1321450"/>
            <a:ext cx="114930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Latence : temps de réponse P95 &lt; 5 secondes après soumission de la photo (hors upload).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 minimal : au moins 5 recommandations affichées par requête (Top‑5).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Qualité modèle (MVP) : Top‑5 hit rate ≥ 60% sur un jeu de test interne (dataset de validation).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produit : pour chaque recommandation, affichage prix + disponibilité (si indisponible → mention “indisponible”).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Inférence : l’IA est servie via API backend (modèle versionné, endpoint /recommendations).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Fallback : si le service IA est indisponible, afficher une liste “best‑sellers / tendances” + message “recommandations temporairement indisponibles”.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Observabilité : chaque requête loggue (App Insights) latence, code retour, version du modèle, taux d’erreur, sans stocker la photo en clair dans les logs.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Sécurité / RGPD : aucune donnée sensible dans les logs, conservation des images conforme au consentement RGPD (référencé par US10).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82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b7eaf6ce85_1_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7eaf6ce85_1_12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b7eaf6ce85_1_12"/>
          <p:cNvSpPr txBox="1"/>
          <p:nvPr/>
        </p:nvSpPr>
        <p:spPr>
          <a:xfrm>
            <a:off x="428000" y="445525"/>
            <a:ext cx="11589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BACKLOG - User Stories Post-MVP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b7eaf6ce85_1_12"/>
          <p:cNvSpPr txBox="1"/>
          <p:nvPr/>
        </p:nvSpPr>
        <p:spPr>
          <a:xfrm>
            <a:off x="457200" y="10058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US04 en Could: risque technique élevé.</a:t>
            </a:r>
            <a:endParaRPr b="0" i="0" sz="1800" u="none" cap="none" strike="noStrike">
              <a:solidFill>
                <a:srgbClr val="282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g3b7eaf6ce85_1_12"/>
          <p:cNvGraphicFramePr/>
          <p:nvPr/>
        </p:nvGraphicFramePr>
        <p:xfrm>
          <a:off x="609440" y="1519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95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User Story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MoSCoW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SP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Charge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Sprint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Essayage virtuel 2D (overlay)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Could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20j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Profil style (préférences)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Should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8j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Partage réseaux sociaux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Could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7j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Feedback sur recommandations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Should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49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US11</a:t>
                      </a:r>
                      <a:endParaRPr sz="1000"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 Changer la couleur et le style du vêtement recommandé</a:t>
                      </a:r>
                      <a:endParaRPr sz="1000"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Should </a:t>
                      </a:r>
                      <a:endParaRPr sz="1000"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8j</a:t>
                      </a:r>
                      <a:endParaRPr sz="1000"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g3b7eaf6ce85_1_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7eaf6ce85_1_28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b7eaf6ce85_1_28"/>
          <p:cNvSpPr txBox="1"/>
          <p:nvPr/>
        </p:nvSpPr>
        <p:spPr>
          <a:xfrm>
            <a:off x="428000" y="445525"/>
            <a:ext cx="11589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REGISTRE CNIL - TRAITEMENT IA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b7eaf6ce85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575" y="1087075"/>
            <a:ext cx="6936775" cy="577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b7eaf6ce85_1_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7eaf6ce85_1_36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b7eaf6ce85_1_36"/>
          <p:cNvSpPr txBox="1"/>
          <p:nvPr/>
        </p:nvSpPr>
        <p:spPr>
          <a:xfrm>
            <a:off x="428000" y="445525"/>
            <a:ext cx="1158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OBLIGATIONS RGPD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b7eaf6ce85_1_36"/>
          <p:cNvSpPr txBox="1"/>
          <p:nvPr/>
        </p:nvSpPr>
        <p:spPr>
          <a:xfrm>
            <a:off x="844378" y="1520900"/>
            <a:ext cx="11664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légale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consentement explicite avant l’analyse photo (opt‑in + retrait possible).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Transparence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RGPD (finalités, données, destinataires, durées, droits) accessible in‑app.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Minimisation &amp; conservation 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collecte minimale ; conservation limitée (suppression sur demande / durée définie).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Droits des personnes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accès, rectification, effacement, limitation, portabilité, opposition — réponse ≤ 30 jours.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Sous‑traitants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(DPA en place) + hébergement UE (si retenu) ; accès “need‑to‑know”.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Sécurité 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chiffrement en transit (TLS) + au repos, contrôle d’accès, pseudonymisation, logs limités.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incidents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procédure + notification CNIL ≤ 72h si violation.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AIPD (DPIA)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réalisée / à réaliser car traitement d’images potentiellement sensibles selon le contenu.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b7eaf6ce85_1_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7eaf6ce85_1_44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b7eaf6ce85_1_44"/>
          <p:cNvSpPr txBox="1"/>
          <p:nvPr/>
        </p:nvSpPr>
        <p:spPr>
          <a:xfrm>
            <a:off x="428000" y="445525"/>
            <a:ext cx="11589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MESURES ANTI-BIAIS IA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g3b7eaf6ce85_1_44"/>
          <p:cNvGraphicFramePr/>
          <p:nvPr/>
        </p:nvGraphicFramePr>
        <p:xfrm>
          <a:off x="609440" y="1615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703100"/>
                <a:gridCol w="2436650"/>
                <a:gridCol w="4878125"/>
                <a:gridCol w="1954925"/>
              </a:tblGrid>
              <a:tr h="41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Phase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Mesure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 diversité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Vérifier représentativité genres, morphologies, origines ethniques, âges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Scientist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42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augmentation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Enrichir le dataset avec images sous-représentées (partenariats)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Scientist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Anonymisation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Flouter visages, supprimer métadonnées identifiantes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Entraînement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Fairness metrics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Intégrer métriques équité (demographic parity, equalized odds)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Scientist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Entraînement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Cross-validation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Valider performances par sous-groupes démographiques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Scientist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Comité éthique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Revue par comité pluridisciplinaire avant mise en prod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Tests utilisateurs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Beta-test avec panel diversifié (100+ testeurs)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UX Designer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Monitoring biais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temps réel des métriques fairness par segment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Scientist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Feedback loop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Collecte retours utilisateurs sur pertinence (US08)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 trimestriel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Revue formelle des performances et biais tous les 3 mois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DPO + 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g3b7eaf6ce85_1_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457200" y="457200"/>
            <a:ext cx="1154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TRAJECTOIRE VERS LA RENTABILITÉ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513788" y="6289575"/>
            <a:ext cx="706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Break-even atteint : Entre Année 1 et Année 2 (~14 mois après mise en production)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379" y="1021550"/>
            <a:ext cx="8015170" cy="526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7eaf6ce85_1_63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7eaf6ce85_1_63"/>
          <p:cNvSpPr txBox="1"/>
          <p:nvPr/>
        </p:nvSpPr>
        <p:spPr>
          <a:xfrm>
            <a:off x="428000" y="445525"/>
            <a:ext cx="1158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GAINS ANNUELS - HYPOTHÈSES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" name="Google Shape;232;g3b7eaf6ce85_1_63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3657600"/>
                <a:gridCol w="3657600"/>
                <a:gridCol w="3657600"/>
              </a:tblGrid>
              <a:tr h="7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Source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Hypothèse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Gain/an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Ventes additionnelles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+2% CA e-commerce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60 000€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Réduction retours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-1% retours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5 000€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Acquisition clients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500 clients × 80€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40 000€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Upselling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+15% panier moyen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30 000€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TOTAL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135 000€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</a:tbl>
          </a:graphicData>
        </a:graphic>
      </p:graphicFrame>
      <p:sp>
        <p:nvSpPr>
          <p:cNvPr id="233" name="Google Shape;233;g3b7eaf6ce85_1_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7eaf6ce85_1_70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b7eaf6ce85_1_70"/>
          <p:cNvSpPr txBox="1"/>
          <p:nvPr/>
        </p:nvSpPr>
        <p:spPr>
          <a:xfrm>
            <a:off x="428000" y="445525"/>
            <a:ext cx="1158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ROI - SCÉNARIO OPTIMISTE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b7eaf6ce85_1_70"/>
          <p:cNvSpPr txBox="1"/>
          <p:nvPr/>
        </p:nvSpPr>
        <p:spPr>
          <a:xfrm>
            <a:off x="457200" y="100584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+10% de croissance annuelle</a:t>
            </a:r>
            <a:endParaRPr b="0" i="0" sz="1800" u="none" cap="none" strike="noStrike">
              <a:solidFill>
                <a:srgbClr val="282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82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1" name="Google Shape;241;g3b7eaf6ce85_1_70"/>
          <p:cNvGraphicFramePr/>
          <p:nvPr/>
        </p:nvGraphicFramePr>
        <p:xfrm>
          <a:off x="609428" y="1652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Année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Coûts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Gains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Flux net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Cumul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Rentable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128894,8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-128894,8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-128894,8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108675,64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-20219,16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122175,64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101956,48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064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OUI ✓</a:t>
                      </a:r>
                      <a:endParaRPr b="1" sz="1100">
                        <a:solidFill>
                          <a:srgbClr val="0064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163350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137025,64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238982,12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064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OUI ✓</a:t>
                      </a:r>
                      <a:endParaRPr b="1" sz="1100">
                        <a:solidFill>
                          <a:srgbClr val="0064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179685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153360,64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392342,76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064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OUI ✓</a:t>
                      </a:r>
                      <a:endParaRPr b="1" sz="1100">
                        <a:solidFill>
                          <a:srgbClr val="0064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197654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171329,64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563672,4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064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OUI ✓</a:t>
                      </a:r>
                      <a:endParaRPr b="1" sz="1100">
                        <a:solidFill>
                          <a:srgbClr val="0064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g3b7eaf6ce85_1_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7eaf6ce85_1_78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b7eaf6ce85_1_78"/>
          <p:cNvSpPr txBox="1"/>
          <p:nvPr/>
        </p:nvSpPr>
        <p:spPr>
          <a:xfrm>
            <a:off x="428000" y="445525"/>
            <a:ext cx="11589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ROI - SCÉNARIO PESSIMISTE (50% gains)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9" name="Google Shape;249;g3b7eaf6ce85_1_78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Année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Coûts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Gains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Flux net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Cumul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Rentable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128894,8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-128894,8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-128894,8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41175,64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-87719,16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74250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47925,64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-39793,52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81675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55350,64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15557,12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064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OUI ✓</a:t>
                      </a:r>
                      <a:endParaRPr b="1" sz="1100">
                        <a:solidFill>
                          <a:srgbClr val="0064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89843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63518,64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79075,76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064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OUI ✓</a:t>
                      </a:r>
                      <a:endParaRPr b="1" sz="1100">
                        <a:solidFill>
                          <a:srgbClr val="0064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Année 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26324,36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98827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72502,64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151578,4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064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OUI ✓</a:t>
                      </a:r>
                      <a:endParaRPr b="1" sz="1100">
                        <a:solidFill>
                          <a:srgbClr val="0064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g3b7eaf6ce85_1_7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7eaf6ce85_1_88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b7eaf6ce85_1_88"/>
          <p:cNvSpPr txBox="1"/>
          <p:nvPr/>
        </p:nvSpPr>
        <p:spPr>
          <a:xfrm>
            <a:off x="428000" y="445525"/>
            <a:ext cx="115896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KPIs DE SUCCÈS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g3b7eaf6ce85_1_88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5486400"/>
                <a:gridCol w="5486400"/>
              </a:tblGrid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KPI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Cible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u="none" cap="none" strike="noStrike"/>
                        <a:t>Taux conversion app</a:t>
                      </a:r>
                      <a:endParaRPr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u="none" cap="none" strike="noStrike"/>
                        <a:t>&gt; 3%</a:t>
                      </a:r>
                      <a:endParaRPr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Qualité recos (Top‑5 hit rate) 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&gt; 60%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Temps réponse IA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&lt; 5s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Rétention J30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&gt; 25%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  <a:tr h="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Panier moyen app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/>
                        <a:t>&gt; 85€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g3b7eaf6ce85_1_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457200" y="457200"/>
            <a:ext cx="1165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EXÉCUTION MAÎTRISÉE (RISQUES RÉDUITS)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6858000" y="2286000"/>
            <a:ext cx="3794700" cy="31644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7040880" y="2468880"/>
            <a:ext cx="420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Catégories Spectre 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7040880" y="3017520"/>
            <a:ext cx="42063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1. Données - Qualité, disponibilité, intégrité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2. Délais - Planning, dépendances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3. Droit - RGPD, conformité légale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4. Déontologie - Éthique, biais IA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5. Décision - Gouvernance, parties prenantes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6. Disruption - Technique, changements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7. Durabilité - Environnement, pérennité</a:t>
            </a:r>
            <a:endParaRPr b="0" i="0" sz="9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7" title="Graphiqu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669" y="1103706"/>
            <a:ext cx="6472238" cy="538638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7"/>
          <p:cNvSpPr txBox="1"/>
          <p:nvPr/>
        </p:nvSpPr>
        <p:spPr>
          <a:xfrm>
            <a:off x="1463107" y="6176140"/>
            <a:ext cx="10728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200">
                <a:solidFill>
                  <a:srgbClr val="0000FF"/>
                </a:solidFill>
              </a:rPr>
              <a:t>Bleu : criticité max observée (avant mitigation)                                               </a:t>
            </a:r>
            <a:r>
              <a:rPr lang="en-US" sz="1200">
                <a:solidFill>
                  <a:schemeClr val="dk1"/>
                </a:solidFill>
              </a:rPr>
              <a:t>Échelle 0–10 ; criticité = impact × probabilité (atelier équipe)</a:t>
            </a:r>
            <a:endParaRPr sz="12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200">
                <a:solidFill>
                  <a:srgbClr val="FF0000"/>
                </a:solidFill>
              </a:rPr>
              <a:t>Rouge : seuil acceptable (cible = 5)</a:t>
            </a:r>
            <a:endParaRPr sz="12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70" name="Google Shape;270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7eaf6ce85_1_109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b7eaf6ce85_1_109"/>
          <p:cNvSpPr txBox="1"/>
          <p:nvPr/>
        </p:nvSpPr>
        <p:spPr>
          <a:xfrm>
            <a:off x="428000" y="445525"/>
            <a:ext cx="11589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ANALYSE DES RISQUES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7" name="Google Shape;277;g3b7eaf6ce85_1_109"/>
          <p:cNvGraphicFramePr/>
          <p:nvPr/>
        </p:nvGraphicFramePr>
        <p:xfrm>
          <a:off x="103997" y="1415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{A8E67B51-DCD8-4780-A1F3-9911E1082BC4}</a:tableStyleId>
              </a:tblPr>
              <a:tblGrid>
                <a:gridCol w="438875"/>
                <a:gridCol w="1189900"/>
                <a:gridCol w="1409700"/>
                <a:gridCol w="1104900"/>
                <a:gridCol w="904875"/>
                <a:gridCol w="1819275"/>
                <a:gridCol w="495300"/>
                <a:gridCol w="662875"/>
                <a:gridCol w="683800"/>
                <a:gridCol w="1672750"/>
                <a:gridCol w="1559575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Facteurs de risque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Risque (événement redouté)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Conséquence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Conséquences (en coût, délai, qualité, satisfaction client)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 (0 à 3)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Probabilité (0 à 3)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Criticité (impact*prob)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Actions de prévention (pour éviter l'événement redouté)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de correction (si événement redouté avéré)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R01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 Data Scientist est junior et dépend d'un sous-traitant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 disponibilité / perte de compétence clé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Retard sur le modèle IA, rework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Décalage MVP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Coût: re-documentation + formation | Délai: +2-4 semaines | Qualité: baisse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transfert de compétence + pair programming + documentation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de curation: re-documentation + renfort senior temporaire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R02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Délais très courts (concurrent sur le même marché)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Retard de livraison MVP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Perte d'avantage concurrentiel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Time-to-market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Coût: perte CA | Délai: report lancement | Qualité: features réduites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Prioriser MVP (US Must) + buffer planning + suivi quotidien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de curation: réduire périmètre + release incrémentale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R03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Développeurs mobiles mobilisés sur une autre application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Disponibilité insuffisante des devs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Ralentissement des sprints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Capacité équipe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Coût: rallonge budget | Délai: +1-2 sprints | Qualité: dette technique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Alignement planning + allocation dédiée + renfort temporaire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de curation: réaffectation prioritaire ou externalisation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R04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données personnelles (potentiellement sensibles selon le contenu)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Non-conformité RGPD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Sanctions CNIL + perte confiance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Conformité légale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Coût: amende | Qualité: réputation | Satisfaction: chute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Consentement explicite + AIPD + registre CNIL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de curation: suspension feature + purge données + plan correctif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R05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Sécurité des données = enjeu majeur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Fuite/violation de données personnelles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Atteinte réputation + coûts juridiques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Sécurité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Coût: incident + notification | Délai: remédiation | Satisfaction: baisse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Chiffrement AES-256 + audit sécurité + contrôle accès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de curation: plan de réponse incident + notification 72h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(CNIL)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R06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potentiellement non représentatif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Biais du modèle IA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Recommandations discriminantes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Éthique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Qualité: baisse pertinence | Satisfaction: bad buzz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 diversité dataset + tests par segments non sensibles + monitoring qualité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de curation: retrait modèle + re-training ciblé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g3b7eaf6ce85_1_10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GOUVERNANCE AGILE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SCRUM Framework &amp; Team Roles.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57200" y="2286000"/>
            <a:ext cx="3657600" cy="2502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640080" y="24688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The Squad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640080" y="3017520"/>
            <a:ext cx="3291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Product Owner (Alicia)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Scrum Master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Lead Data Scientist + DS Junior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Dev Mobile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DevOps/Cloud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UX Designer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QA Engineer</a:t>
            </a:r>
            <a:endParaRPr b="0" i="0" sz="1000" u="none" cap="none" strike="noStrike">
              <a:solidFill>
                <a:srgbClr val="CCCCCC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4297675" y="2286000"/>
            <a:ext cx="3657600" cy="2547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480560" y="24688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Ceremonies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4480560" y="3017520"/>
            <a:ext cx="3291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Daily Scrum (15 min)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Sprint Planning (toutes les 3 semaines)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Sprint Review + Démo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Rétrospective</a:t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Backlog Refinement (hebdo)</a:t>
            </a:r>
            <a:endParaRPr b="0" i="0" sz="1000" u="none" cap="none" strike="noStrike">
              <a:solidFill>
                <a:srgbClr val="CCCCCC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8138150" y="2286000"/>
            <a:ext cx="3905700" cy="25476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8321040" y="24688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8320977" y="2860525"/>
            <a:ext cx="379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Azure DevOps ou GitHub (backlog + CI/CD)</a:t>
            </a:r>
            <a:endParaRPr sz="1200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GitHub (versioning)</a:t>
            </a:r>
            <a:endParaRPr sz="1200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Azure VM (training) + App Service (API/inference)</a:t>
            </a:r>
            <a:endParaRPr sz="1200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Application Insights / Azure Monitor (logs &amp; monitoring)</a:t>
            </a:r>
            <a:endParaRPr sz="1200"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App Center (qualité mobile)</a:t>
            </a:r>
            <a:endParaRPr sz="800">
              <a:solidFill>
                <a:srgbClr val="CCCCCC"/>
              </a:solidFill>
              <a:highlight>
                <a:srgbClr val="181818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7eaf6ce85_1_122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b7eaf6ce85_1_122"/>
          <p:cNvSpPr txBox="1"/>
          <p:nvPr/>
        </p:nvSpPr>
        <p:spPr>
          <a:xfrm>
            <a:off x="428000" y="445525"/>
            <a:ext cx="115896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CÉRÉMONIES SCRUM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2" name="Google Shape;302;g3b7eaf6ce85_1_122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2194550"/>
                <a:gridCol w="2194550"/>
                <a:gridCol w="1637150"/>
                <a:gridCol w="1305550"/>
                <a:gridCol w="3640950"/>
              </a:tblGrid>
              <a:tr h="7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Cérémonie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Fréquence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Durée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Participants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Objectif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Scrum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Quotidien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min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Équipe dev + SM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Synchronisation: Fait hier? Prévu aujourd'hui? Blocages?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Planning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Début sprint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Équipe + PO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Sélection US du sprint, définition objectif sprint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Review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 sprint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Équipe + PO + Stakeholders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Démo fonctionnalités, feedback, validation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Retrospective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 sprint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1h30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Équipe + SM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Amélioration continue: Start/Stop/Continue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Backlog Refinement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Mi-sprint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2h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Équipe + PO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Affinage US futures, estimation, clarification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3" name="Google Shape;303;g3b7eaf6ce85_1_1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0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PLANNING D’EXÉCUTION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Key milestones to market domination.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914400" y="3657600"/>
            <a:ext cx="10360152" cy="91440"/>
          </a:xfrm>
          <a:prstGeom prst="rect">
            <a:avLst/>
          </a:prstGeom>
          <a:solidFill>
            <a:srgbClr val="28283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/>
          <p:nvPr/>
        </p:nvSpPr>
        <p:spPr>
          <a:xfrm>
            <a:off x="1371600" y="3474720"/>
            <a:ext cx="457200" cy="457200"/>
          </a:xfrm>
          <a:prstGeom prst="ellipse">
            <a:avLst/>
          </a:prstGeom>
          <a:solidFill>
            <a:srgbClr val="28283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496071" y="2733093"/>
            <a:ext cx="228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br>
              <a:rPr b="1" i="0" lang="en-US" sz="16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 (Infra + Auth + RGPD + cœur IA)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966000" y="4023350"/>
            <a:ext cx="126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Mois 1–2 (Sprints 1–2)</a:t>
            </a: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0"/>
          <p:cNvSpPr/>
          <p:nvPr/>
        </p:nvSpPr>
        <p:spPr>
          <a:xfrm>
            <a:off x="4114800" y="3474720"/>
            <a:ext cx="457200" cy="457200"/>
          </a:xfrm>
          <a:prstGeom prst="ellipse">
            <a:avLst/>
          </a:prstGeom>
          <a:solidFill>
            <a:srgbClr val="FF1493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3320771" y="2743493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MVP READY 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3251100" y="4023350"/>
            <a:ext cx="218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Fin Mois 2 / Début Mois 3 </a:t>
            </a:r>
            <a:endParaRPr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(Sprint 3)</a:t>
            </a:r>
            <a:endParaRPr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6858000" y="3474720"/>
            <a:ext cx="457200" cy="457200"/>
          </a:xfrm>
          <a:prstGeom prst="ellipse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6063971" y="2743493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A2BE2"/>
                </a:solidFill>
                <a:latin typeface="Calibri"/>
                <a:ea typeface="Calibri"/>
                <a:cs typeface="Calibri"/>
                <a:sym typeface="Calibri"/>
              </a:rPr>
              <a:t>VIRTUAL TRY-ON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6313800" y="4023350"/>
            <a:ext cx="154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Mois 3 </a:t>
            </a:r>
            <a:endParaRPr>
              <a:solidFill>
                <a:srgbClr val="2828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(Sprint 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9601200" y="3474720"/>
            <a:ext cx="457200" cy="457200"/>
          </a:xfrm>
          <a:prstGeom prst="ellipse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8807171" y="2743493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V1 RELEASE 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0"/>
          <p:cNvSpPr txBox="1"/>
          <p:nvPr/>
        </p:nvSpPr>
        <p:spPr>
          <a:xfrm>
            <a:off x="9483300" y="4023350"/>
            <a:ext cx="69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Mois </a:t>
            </a: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7eaf6ce85_1_129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b7eaf6ce85_1_129"/>
          <p:cNvSpPr txBox="1"/>
          <p:nvPr/>
        </p:nvSpPr>
        <p:spPr>
          <a:xfrm>
            <a:off x="428000" y="445525"/>
            <a:ext cx="11589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PLANNING DES SPRINTS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" name="Google Shape;331;g3b7eaf6ce85_1_129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95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Sprint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Dates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Objectif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User Stories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SP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Jalon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01/02 - 21/02/2026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Fondations &amp; Sécurité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US01, US02, US10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Infrastructure prête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22/02 - 14/03/2026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Cœur IA &amp; MVP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US03,, US06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 + cœur IA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15/03 - 04/04/2026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Monétisation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US08, US09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MVP READY + Paiement intégré + Mise en prod MVP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DB7C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05/04 - 25/04/2026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Enrichissements V1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US04, US07, US11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Enrichissements V1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2" name="Google Shape;332;g3b7eaf6ce85_1_1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7eaf6ce85_1_148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b7eaf6ce85_1_148"/>
          <p:cNvSpPr txBox="1"/>
          <p:nvPr/>
        </p:nvSpPr>
        <p:spPr>
          <a:xfrm>
            <a:off x="428000" y="445525"/>
            <a:ext cx="11589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BURNDOWN CHART - SPRINT 2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9" name="Google Shape;339;g3b7eaf6ce85_1_148"/>
          <p:cNvGraphicFramePr/>
          <p:nvPr/>
        </p:nvGraphicFramePr>
        <p:xfrm>
          <a:off x="427990" y="1379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23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Jour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J11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J15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71B8E"/>
                    </a:solidFill>
                  </a:tcPr>
                </a:tc>
              </a:tr>
              <a:tr h="32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Idéal (SP)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22.5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15.5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Réel (SP)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pic>
        <p:nvPicPr>
          <p:cNvPr id="340" name="Google Shape;340;g3b7eaf6ce85_1_148" title="Graphiqu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875" y="3196900"/>
            <a:ext cx="5093899" cy="339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b7eaf6ce85_1_148" title="Graphiqu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9001" y="3196900"/>
            <a:ext cx="5280626" cy="307745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b7eaf6ce85_1_14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ALLOCATION DES RESSOURCES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0" name="Google Shape;3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448" y="1371600"/>
            <a:ext cx="8323350" cy="526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7f30bbf2c_0_4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b7f30bbf2c_0_4"/>
          <p:cNvSpPr txBox="1"/>
          <p:nvPr/>
        </p:nvSpPr>
        <p:spPr>
          <a:xfrm>
            <a:off x="457200" y="457200"/>
            <a:ext cx="1173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ÉQUIPE PROJET - RESSOURCES DÉTAILLÉES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357" name="Google Shape;357;g3b7f30bbf2c_0_4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{603CB497-B25A-4CA4-9DC9-59AC20B0F9DB}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Profil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Rôle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ETP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TJM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Jours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Coût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1B8E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Pilotage backlog, priorisation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 Master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Animation SCRUM, levée obstacles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Développeur Mobile Senior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iOS/Android, Flutter/React Native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Scientist Senior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Modèle IA vision, ML pipeline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13332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Scientist Junior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DS, tests, data prep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11,68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2336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DevOps/Cloud Engineer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Infrastructure Azure, CI/CD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11330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UX Designer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Interface, parcours utilisateur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4387,5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 Engineer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Tests fonctionnels, automatisation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TOTAL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6.5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203</a:t>
                      </a:r>
                      <a:r>
                        <a:rPr lang="en-US" sz="900" u="none" cap="none" strike="noStrike"/>
                        <a:t>j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1F4E79"/>
                          </a:solidFill>
                        </a:rPr>
                        <a:t>128135,5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358" name="Google Shape;358;g3b7f30bbf2c_0_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ARCHITECTURE CLOUD SCALABLE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Powered by Microsoft Azure.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chitecture.png" id="366" name="Google Shape;3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82880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1"/>
          <p:cNvSpPr/>
          <p:nvPr/>
        </p:nvSpPr>
        <p:spPr>
          <a:xfrm>
            <a:off x="457200" y="2286000"/>
            <a:ext cx="2743200" cy="10974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640080" y="246888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Front-End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640080" y="2788920"/>
            <a:ext cx="23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React Native</a:t>
            </a:r>
            <a:b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(iOS/Android)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457200" y="4114800"/>
            <a:ext cx="2743200" cy="109740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640080" y="429768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1"/>
          <p:cNvSpPr txBox="1"/>
          <p:nvPr/>
        </p:nvSpPr>
        <p:spPr>
          <a:xfrm>
            <a:off x="640080" y="4571995"/>
            <a:ext cx="23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Azure App Service</a:t>
            </a:r>
            <a:b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(Python/FastAPI)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8961120" y="22860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 txBox="1"/>
          <p:nvPr/>
        </p:nvSpPr>
        <p:spPr>
          <a:xfrm>
            <a:off x="9144000" y="246888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AI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9144000" y="2788920"/>
            <a:ext cx="23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App Service inference</a:t>
            </a:r>
            <a:b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+ Custom PyTorch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8961120" y="41148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F5F5FA"/>
          </a:solidFill>
          <a:ln cap="flat" cmpd="sng" w="9525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9144000" y="42976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Data Lake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9144000" y="4571995"/>
            <a:ext cx="23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Azure Blob Storage</a:t>
            </a:r>
            <a:b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82832"/>
                </a:solidFill>
                <a:latin typeface="Calibri"/>
                <a:ea typeface="Calibri"/>
                <a:cs typeface="Calibri"/>
                <a:sym typeface="Calibri"/>
              </a:rPr>
              <a:t>(Images &amp; Metadata)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7f30bbf2c_0_14"/>
          <p:cNvSpPr/>
          <p:nvPr/>
        </p:nvSpPr>
        <p:spPr>
          <a:xfrm>
            <a:off x="0" y="0"/>
            <a:ext cx="12191700" cy="137100"/>
          </a:xfrm>
          <a:prstGeom prst="rect">
            <a:avLst/>
          </a:prstGeom>
          <a:solidFill>
            <a:srgbClr val="8A2BE2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b7f30bbf2c_0_14"/>
          <p:cNvSpPr txBox="1"/>
          <p:nvPr/>
        </p:nvSpPr>
        <p:spPr>
          <a:xfrm>
            <a:off x="457200" y="457200"/>
            <a:ext cx="914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A2BE2"/>
                </a:solidFill>
                <a:latin typeface="Arial Black"/>
                <a:ea typeface="Arial Black"/>
                <a:cs typeface="Arial Black"/>
                <a:sym typeface="Arial Black"/>
              </a:rPr>
              <a:t>COÛTS INFRASTRUCTURE AZURE</a:t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8A2BE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86" name="Google Shape;386;g3b7f30bbf2c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125" y="1061800"/>
            <a:ext cx="10372725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b7f30bbf2c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575" y="3429000"/>
            <a:ext cx="5975801" cy="32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b7f30bbf2c_0_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 the Revolution.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