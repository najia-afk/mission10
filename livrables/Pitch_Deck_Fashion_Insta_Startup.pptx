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6858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8A2BE2"/>
                </a:solidFill>
                <a:latin typeface="Arial Black"/>
              </a:defRPr>
            </a:pPr>
            <a:r>
              <a:t>FASHION</a:t>
            </a:r>
            <a:br/>
            <a:r>
              <a:t>INSTA.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32"/>
                </a:solidFill>
              </a:defRPr>
            </a:pPr>
            <a:r>
              <a:t>Your Personal AI Stylist.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A2BE2"/>
                </a:solidFill>
                <a:latin typeface="Arial Black"/>
              </a:defRPr>
            </a:pPr>
            <a:r>
              <a:t>THE CLOSET PARADOX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32"/>
                </a:solidFill>
                <a:latin typeface="Arial"/>
              </a:defRPr>
            </a:pPr>
            <a:r>
              <a:t>Why fashion is broken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3657600"/>
          </a:xfrm>
          <a:prstGeom prst="roundRect">
            <a:avLst/>
          </a:prstGeom>
          <a:solidFill>
            <a:srgbClr val="F5F5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1493"/>
                </a:solidFill>
              </a:defRPr>
            </a:pPr>
            <a:r>
              <a:t>Choice Paralysis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Users spend 90 mins/week deciding what to wear, yet wear only 20% of their wardrobe.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474720" cy="3657600"/>
          </a:xfrm>
          <a:prstGeom prst="roundRect">
            <a:avLst/>
          </a:prstGeom>
          <a:solidFill>
            <a:srgbClr val="F5F5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1493"/>
                </a:solidFill>
              </a:defRPr>
            </a:pPr>
            <a:r>
              <a:t>The Return Nightmare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30% of online purchases are returned. Poor fit and style mismatch cost the industry billions.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474720" cy="3657600"/>
          </a:xfrm>
          <a:prstGeom prst="roundRect">
            <a:avLst/>
          </a:prstGeom>
          <a:solidFill>
            <a:srgbClr val="F5F5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1493"/>
                </a:solidFill>
              </a:defRPr>
            </a:pPr>
            <a:r>
              <a:t>Generic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E-commerce recommendations are based on 'others bought', not 'what fits YOU'.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A2BE2"/>
                </a:solidFill>
                <a:latin typeface="Arial Black"/>
              </a:defRPr>
            </a:pPr>
            <a:r>
              <a:t>MEET YOUR AI STYLIST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32"/>
                </a:solidFill>
                <a:latin typeface="Arial"/>
              </a:defRPr>
            </a:pPr>
            <a:r>
              <a:t>Hyper-personalized fashion at your fingertips.</a:t>
            </a:r>
          </a:p>
        </p:txBody>
      </p:sp>
      <p:pic>
        <p:nvPicPr>
          <p:cNvPr id="5" name="Picture 4" descr="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5029200" cy="5029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2286000"/>
            <a:ext cx="3200400" cy="1371600"/>
          </a:xfrm>
          <a:prstGeom prst="roundRect">
            <a:avLst/>
          </a:prstGeom>
          <a:solidFill>
            <a:srgbClr val="F5F5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1493"/>
                </a:solidFill>
              </a:defRPr>
            </a:pPr>
            <a:r>
              <a:t>Virtual Try-On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See it on YOU before buying. Powered by Generative 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3200400" cy="1371600"/>
          </a:xfrm>
          <a:prstGeom prst="roundRect">
            <a:avLst/>
          </a:prstGeom>
          <a:solidFill>
            <a:srgbClr val="F5F5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1493"/>
                </a:solidFill>
              </a:defRPr>
            </a:pPr>
            <a:r>
              <a:t>Smart Wardrobe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Digitize your closet. Mix &amp; match instantly.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286000"/>
            <a:ext cx="3200400" cy="1371600"/>
          </a:xfrm>
          <a:prstGeom prst="roundRect">
            <a:avLst/>
          </a:prstGeom>
          <a:solidFill>
            <a:srgbClr val="F5F5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4688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1493"/>
                </a:solidFill>
              </a:defRPr>
            </a:pPr>
            <a:r>
              <a:t>Style DNA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0175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AI learns your taste, body shape, and vibe.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4114800"/>
            <a:ext cx="3200400" cy="1371600"/>
          </a:xfrm>
          <a:prstGeom prst="roundRect">
            <a:avLst/>
          </a:prstGeom>
          <a:solidFill>
            <a:srgbClr val="F5F5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42976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1493"/>
                </a:solidFill>
              </a:defRPr>
            </a:pPr>
            <a:r>
              <a:t>Eco-Score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Make sustainable choices with real-time impact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A2BE2"/>
                </a:solidFill>
                <a:latin typeface="Arial Black"/>
              </a:defRPr>
            </a:pPr>
            <a:r>
              <a:t>A $1.5 TRILLION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32"/>
                </a:solidFill>
                <a:latin typeface="Arial"/>
              </a:defRPr>
            </a:pPr>
            <a:r>
              <a:t>Riding the wave of Fashion Tech.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00C8FF"/>
                </a:solidFill>
              </a:defRPr>
            </a:pPr>
            <a:r>
              <a:t>$1.5T</a:t>
            </a:r>
          </a:p>
          <a:p>
            <a:r>
              <a:t>Global Fashion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FF1493"/>
                </a:solidFill>
              </a:defRPr>
            </a:pPr>
            <a:r>
              <a:t>25%</a:t>
            </a:r>
          </a:p>
          <a:p>
            <a:r>
              <a:t>CAGR AI in Fashion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8A2BE2"/>
                </a:solidFill>
              </a:defRPr>
            </a:pPr>
            <a:r>
              <a:t>Gen-Z</a:t>
            </a:r>
          </a:p>
          <a:p>
            <a:r>
              <a:t>Digital Native Target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A2BE2"/>
                </a:solidFill>
                <a:latin typeface="Arial Black"/>
              </a:defRPr>
            </a:pPr>
            <a:r>
              <a:t>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32"/>
                </a:solidFill>
                <a:latin typeface="Arial"/>
              </a:defRPr>
            </a:pPr>
            <a:r>
              <a:t>Prioritized for maximum impact (MoSCoW).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3657600" cy="3657600"/>
          </a:xfrm>
          <a:prstGeom prst="rect">
            <a:avLst/>
          </a:prstGeom>
          <a:solidFill>
            <a:srgbClr val="8A2B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2000"/>
            </a:pPr>
            <a:r>
              <a:t>MUST HAVE (MVP)</a:t>
            </a:r>
          </a:p>
          <a:p/>
          <a:p>
            <a:r>
              <a:t>• AI Reco Engine</a:t>
            </a:r>
          </a:p>
          <a:p>
            <a:r>
              <a:t>• Photo Capture</a:t>
            </a:r>
          </a:p>
          <a:p>
            <a:r>
              <a:t>• GDPR Compliance</a:t>
            </a:r>
          </a:p>
          <a:p>
            <a:r>
              <a:t>• Secure Auth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2286000"/>
            <a:ext cx="3657600" cy="3657600"/>
          </a:xfrm>
          <a:prstGeom prst="rect">
            <a:avLst/>
          </a:prstGeom>
          <a:solidFill>
            <a:srgbClr val="FF14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2000"/>
            </a:pPr>
            <a:r>
              <a:t>SHOULD HAVE (V1)</a:t>
            </a:r>
          </a:p>
          <a:p/>
          <a:p>
            <a:r>
              <a:t>• Virtual Try-On</a:t>
            </a:r>
          </a:p>
          <a:p>
            <a:r>
              <a:t>• Style Profiling</a:t>
            </a:r>
          </a:p>
          <a:p>
            <a:r>
              <a:t>• Social Sharing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2286000"/>
            <a:ext cx="3657600" cy="3657600"/>
          </a:xfrm>
          <a:prstGeom prst="rect">
            <a:avLst/>
          </a:prstGeom>
          <a:solidFill>
            <a:srgbClr val="00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2000"/>
            </a:pPr>
            <a:r>
              <a:t>COULD HAVE (Scale)</a:t>
            </a:r>
          </a:p>
          <a:p/>
          <a:p>
            <a:r>
              <a:t>• B2B Retailer API</a:t>
            </a:r>
          </a:p>
          <a:p>
            <a:r>
              <a:t>• Marketplace</a:t>
            </a:r>
          </a:p>
          <a:p>
            <a:r>
              <a:t>• Advanced Gamification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A2BE2"/>
                </a:solidFill>
                <a:latin typeface="Arial Black"/>
              </a:defRPr>
            </a:pPr>
            <a:r>
              <a:t>PATH TO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32"/>
                </a:solidFill>
                <a:latin typeface="Arial"/>
              </a:defRPr>
            </a:pPr>
            <a:r>
              <a:t>Sustainable growth model.</a:t>
            </a:r>
          </a:p>
        </p:txBody>
      </p:sp>
      <p:pic>
        <p:nvPicPr>
          <p:cNvPr id="5" name="Picture 4" descr="roi_chart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0058400" cy="71845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A2BE2"/>
                </a:solidFill>
                <a:latin typeface="Arial Black"/>
              </a:defRPr>
            </a:pPr>
            <a:r>
              <a:t>DE-RISKED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32"/>
                </a:solidFill>
                <a:latin typeface="Arial"/>
              </a:defRPr>
            </a:pPr>
            <a:r>
              <a:t>Proactive management of Data &amp; Ethics.</a:t>
            </a:r>
          </a:p>
        </p:txBody>
      </p:sp>
      <p:pic>
        <p:nvPicPr>
          <p:cNvPr id="5" name="Picture 4" descr="risk_radar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39188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2286000"/>
            <a:ext cx="4572000" cy="1371600"/>
          </a:xfrm>
          <a:prstGeom prst="roundRect">
            <a:avLst/>
          </a:prstGeom>
          <a:solidFill>
            <a:srgbClr val="F5F5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46888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1493"/>
                </a:solidFill>
              </a:defRPr>
            </a:pPr>
            <a:r>
              <a:t>GDPR &amp; Privacy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0175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Full compliance with CNIL register. AES-256 Encryption. User consent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4114800"/>
            <a:ext cx="4572000" cy="1371600"/>
          </a:xfrm>
          <a:prstGeom prst="roundRect">
            <a:avLst/>
          </a:prstGeom>
          <a:solidFill>
            <a:srgbClr val="F5F5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429768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1493"/>
                </a:solidFill>
              </a:defRPr>
            </a:pPr>
            <a:r>
              <a:t>Ethical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8463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Bias monitoring to ensure fair representation across all body types and ethnicities.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A2BE2"/>
                </a:solidFill>
                <a:latin typeface="Arial Black"/>
              </a:defRPr>
            </a:pPr>
            <a:r>
              <a:t>AGILE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32"/>
                </a:solidFill>
                <a:latin typeface="Arial"/>
              </a:defRPr>
            </a:pPr>
            <a:r>
              <a:t>SCRUM Framework &amp; Team Roles.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3657600" cy="1371600"/>
          </a:xfrm>
          <a:prstGeom prst="roundRect">
            <a:avLst/>
          </a:prstGeom>
          <a:solidFill>
            <a:srgbClr val="F5F5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1493"/>
                </a:solidFill>
              </a:defRPr>
            </a:pPr>
            <a:r>
              <a:t>The Squad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• Product Owner (Alicia)</a:t>
            </a:r>
            <a:br/>
            <a:r>
              <a:t>• Scrum Master</a:t>
            </a:r>
            <a:br/>
            <a:r>
              <a:t>• Lead Data Scientist</a:t>
            </a:r>
            <a:br/>
            <a:r>
              <a:t>• DevOps Engineer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286000"/>
            <a:ext cx="3657600" cy="1371600"/>
          </a:xfrm>
          <a:prstGeom prst="roundRect">
            <a:avLst/>
          </a:prstGeom>
          <a:solidFill>
            <a:srgbClr val="F5F5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4688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1493"/>
                </a:solidFill>
              </a:defRPr>
            </a:pPr>
            <a:r>
              <a:t>Ceremonies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017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• Daily Stand-up (15min)</a:t>
            </a:r>
            <a:br/>
            <a:r>
              <a:t>• Sprint Planning (3 weeks)</a:t>
            </a:r>
            <a:br/>
            <a:r>
              <a:t>• Review &amp; Retro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286000"/>
            <a:ext cx="3657600" cy="1371600"/>
          </a:xfrm>
          <a:prstGeom prst="roundRect">
            <a:avLst/>
          </a:prstGeom>
          <a:solidFill>
            <a:srgbClr val="F5F5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4688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1493"/>
                </a:solidFill>
              </a:defRPr>
            </a:pPr>
            <a:r>
              <a:t>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017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• Jira (Backlog)</a:t>
            </a:r>
            <a:br/>
            <a:r>
              <a:t>• GitHub (Version Control)</a:t>
            </a:r>
            <a:br/>
            <a:r>
              <a:t>• Azure DevOps (CI/CD)</a:t>
            </a:r>
            <a:br/>
            <a:r>
              <a:t>• MLflow (Tracking)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A2BE2"/>
                </a:solidFill>
                <a:latin typeface="Arial Black"/>
              </a:defRPr>
            </a:pPr>
            <a:r>
              <a:t>RESOURCE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32"/>
                </a:solidFill>
                <a:latin typeface="Arial"/>
              </a:defRPr>
            </a:pPr>
            <a:r>
              <a:t>CAPEX vs OPEX Breakdown.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28600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3657600"/>
              </a:tblGrid>
              <a:tr h="9144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82832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82832"/>
                          </a:solidFill>
                        </a:defRPr>
                      </a:pPr>
                      <a:r>
                        <a:t>Cost Type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82832"/>
                          </a:solidFill>
                        </a:defRPr>
                      </a:pPr>
                      <a:r>
                        <a:t>Estimated Amount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82832"/>
                          </a:solidFill>
                        </a:defRPr>
                      </a:pPr>
                      <a:r>
                        <a:t>Development (Man-Days)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82832"/>
                          </a:solidFill>
                        </a:defRPr>
                      </a:pPr>
                      <a:r>
                        <a:t>CAPEX (One-off)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82832"/>
                          </a:solidFill>
                        </a:defRPr>
                      </a:pPr>
                      <a:r>
                        <a:t>€125,000 (MVP)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82832"/>
                          </a:solidFill>
                        </a:defRPr>
                      </a:pPr>
                      <a:r>
                        <a:t>Cloud Infrastructure (Azure)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82832"/>
                          </a:solidFill>
                        </a:defRPr>
                      </a:pPr>
                      <a:r>
                        <a:t>OPEX (Monthly)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82832"/>
                          </a:solidFill>
                        </a:defRPr>
                      </a:pPr>
                      <a:r>
                        <a:t>€1,500 / month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A2BE2"/>
                </a:solidFill>
                <a:latin typeface="Arial Black"/>
              </a:defRPr>
            </a:pPr>
            <a:r>
              <a:t>COMPLIANCE &amp;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32"/>
                </a:solidFill>
                <a:latin typeface="Arial"/>
              </a:defRPr>
            </a:pPr>
            <a:r>
              <a:t>Trust is our currency.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502920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1493"/>
                </a:solidFill>
              </a:defRPr>
            </a:pPr>
            <a:r>
              <a:t>CNIL Register (RGPD)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• Purpose: AI Personalization</a:t>
            </a:r>
            <a:br/>
            <a:r>
              <a:t>• Data: Photos, Size, Purchase History</a:t>
            </a:r>
            <a:br/>
            <a:r>
              <a:t>• Retention: 3 years active</a:t>
            </a:r>
            <a:br/>
            <a:r>
              <a:t>• Rights: Access, Rectification, Erasure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286000"/>
            <a:ext cx="5029200" cy="1828800"/>
          </a:xfrm>
          <a:prstGeom prst="roundRect">
            <a:avLst/>
          </a:prstGeom>
          <a:solidFill>
            <a:srgbClr val="F5F5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46888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1493"/>
                </a:solidFill>
              </a:defRPr>
            </a:pPr>
            <a:r>
              <a:t>Ethical AI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0175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• Fairness: Balanced datasets (Ethnicity/Body Type)</a:t>
            </a:r>
            <a:br/>
            <a:r>
              <a:t>• Transparency: Explainable AI (XAI)</a:t>
            </a:r>
            <a:br/>
            <a:r>
              <a:t>• Green AI: Optimized inference for low carbon footprint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A2BE2"/>
                </a:solidFill>
                <a:latin typeface="Arial Black"/>
              </a:defRPr>
            </a:pPr>
            <a:r>
              <a:t>EXECUTION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32"/>
                </a:solidFill>
                <a:latin typeface="Arial"/>
              </a:defRPr>
            </a:pPr>
            <a:r>
              <a:t>Key milestones to market domination.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10360152" cy="91440"/>
          </a:xfrm>
          <a:prstGeom prst="rect">
            <a:avLst/>
          </a:prstGeom>
          <a:solidFill>
            <a:srgbClr val="2828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3474720"/>
            <a:ext cx="457200" cy="457200"/>
          </a:xfrm>
          <a:prstGeom prst="ellipse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282832"/>
                </a:solidFill>
              </a:defRPr>
            </a:pPr>
            <a:r>
              <a:t>Q1: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Sprint 1-2</a:t>
            </a:r>
          </a:p>
        </p:txBody>
      </p:sp>
      <p:sp>
        <p:nvSpPr>
          <p:cNvPr id="9" name="Oval 8"/>
          <p:cNvSpPr/>
          <p:nvPr/>
        </p:nvSpPr>
        <p:spPr>
          <a:xfrm>
            <a:off x="4114800" y="3474720"/>
            <a:ext cx="457200" cy="457200"/>
          </a:xfrm>
          <a:prstGeom prst="ellipse">
            <a:avLst/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5603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1493"/>
                </a:solidFill>
              </a:defRPr>
            </a:pPr>
            <a:r>
              <a:t>MVP READY 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0233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Sprint 3 (Month 2)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0" y="3474720"/>
            <a:ext cx="457200" cy="457200"/>
          </a:xfrm>
          <a:prstGeom prst="ellipse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5603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8A2BE2"/>
                </a:solidFill>
              </a:defRPr>
            </a:pPr>
            <a:r>
              <a:t>VIRTUAL TRY-ON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0233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Sprint 4 (Month 3)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0" y="3474720"/>
            <a:ext cx="457200" cy="45720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5603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00C8FF"/>
                </a:solidFill>
              </a:defRPr>
            </a:pPr>
            <a:r>
              <a:t>V1 RELEASE 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0233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Month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A2BE2"/>
                </a:solidFill>
                <a:latin typeface="Arial Black"/>
              </a:defRPr>
            </a:pPr>
            <a:r>
              <a:t>SCALABLE CLOUD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32"/>
                </a:solidFill>
                <a:latin typeface="Arial"/>
              </a:defRPr>
            </a:pPr>
            <a:r>
              <a:t>Powered by Microsoft Azure.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4572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2286000"/>
            <a:ext cx="2743200" cy="1097280"/>
          </a:xfrm>
          <a:prstGeom prst="roundRect">
            <a:avLst/>
          </a:prstGeom>
          <a:solidFill>
            <a:srgbClr val="F5F5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1493"/>
                </a:solidFill>
              </a:defRPr>
            </a:pPr>
            <a:r>
              <a:t>Front-End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23774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React Native</a:t>
            </a:r>
            <a:br/>
            <a:r>
              <a:t>(iOS/Android)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2743200" cy="1097280"/>
          </a:xfrm>
          <a:prstGeom prst="roundRect">
            <a:avLst/>
          </a:prstGeom>
          <a:solidFill>
            <a:srgbClr val="F5F5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1493"/>
                </a:solidFill>
              </a:defRPr>
            </a:pPr>
            <a:r>
              <a:t>API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23774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Azure App Service</a:t>
            </a:r>
            <a:br/>
            <a:r>
              <a:t>(Python/FastAPI)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286000"/>
            <a:ext cx="2743200" cy="1097280"/>
          </a:xfrm>
          <a:prstGeom prst="roundRect">
            <a:avLst/>
          </a:prstGeom>
          <a:solidFill>
            <a:srgbClr val="F5F5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468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1493"/>
                </a:solidFill>
              </a:defRPr>
            </a:pPr>
            <a:r>
              <a:t>AI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017520"/>
            <a:ext cx="23774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Azure Cognitive Services</a:t>
            </a:r>
            <a:br/>
            <a:r>
              <a:t>+ Custom PyTorch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4114800"/>
            <a:ext cx="2743200" cy="1097280"/>
          </a:xfrm>
          <a:prstGeom prst="roundRect">
            <a:avLst/>
          </a:prstGeom>
          <a:solidFill>
            <a:srgbClr val="F5F5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4297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1493"/>
                </a:solidFill>
              </a:defRPr>
            </a:pPr>
            <a:r>
              <a:t>Data Lake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846320"/>
            <a:ext cx="23774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32"/>
                </a:solidFill>
              </a:defRPr>
            </a:pPr>
            <a:r>
              <a:t>Azure Blob Storage</a:t>
            </a:r>
            <a:br/>
            <a:r>
              <a:t>(Images &amp; Metadata)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2B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Join the Revolution.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Seeking $2M Seed Investment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